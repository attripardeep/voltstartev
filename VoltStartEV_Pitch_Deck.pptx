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51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877B6-3136-B7D7-DE78-78DBCAAA47E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67700" y="49580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914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VoltStart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120640" y="914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Smart. Scalable. Sustainable Charging.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02920" y="2377440"/>
            <a:ext cx="8138160" cy="0"/>
          </a:xfrm>
          <a:prstGeom prst="line">
            <a:avLst/>
          </a:prstGeom>
          <a:noFill/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292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Platform Overview  ·  Business Case  ·  Customization  ·  Future Vision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017520"/>
            <a:ext cx="192024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0292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12+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0292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Charger Types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51760" y="3017520"/>
            <a:ext cx="192024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65176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65176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Pricing Models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00600" y="3017520"/>
            <a:ext cx="192024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0060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AI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80060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Powered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49440" y="3017520"/>
            <a:ext cx="192024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94944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OCPP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4944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1.6J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Confidential — For Discussion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F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 Charging is Broken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Drivers &amp; Operators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09928"/>
            <a:ext cx="530352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unified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Drivers juggle multiple apps per network — no single experience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530352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real-time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5117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Maps show chargers that are offline, in-use, or broken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98648"/>
            <a:ext cx="530352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Opaque billing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14553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live estimates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530352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smart control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3989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Operators can't manage power, pricing, or reservations remotely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530352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customisation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33425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Builders &amp; societies get a one-size-fits-all solution that fits nobody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188720"/>
            <a:ext cx="2926080" cy="365760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1645920" cy="10058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12648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India's EV Market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2648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10M+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126480" y="3172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EVs on road by 2030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2648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₹3.7L Cr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126480" y="3813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Market size projection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2648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&lt;5%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126480" y="4453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Chargers with smart mgmt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Platform. Every Charger. Every Driver.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34747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Mobile App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React Native iOS &amp; Android app for drivers — discover, charge, pay, track in one place.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743200" cy="34747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002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Backend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26517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Node.js + TypeScript API on GCP — real-time OCPP 1.6J, WebSocket telemetry, AI-powered.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371600"/>
            <a:ext cx="2743200" cy="34747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002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Operator Portal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26517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Charger management, dynamic pricing, fleet control, reporting — all from a dashboard.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4709160"/>
            <a:ext cx="1271016" cy="256032"/>
          </a:xfrm>
          <a:prstGeom prst="roundRect">
            <a:avLst>
              <a:gd name="adj" fmla="val 17857"/>
            </a:avLst>
          </a:prstGeom>
          <a:solidFill>
            <a:srgbClr val="0D1F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365760" y="470916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</a:rPr>
              <a:t>React Native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560320" y="470916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0D1F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2560320" y="47091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</a:rPr>
              <a:t>Node.js + TypeScript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4709160"/>
            <a:ext cx="836676" cy="256032"/>
          </a:xfrm>
          <a:prstGeom prst="roundRect">
            <a:avLst>
              <a:gd name="adj" fmla="val 17857"/>
            </a:avLst>
          </a:prstGeom>
          <a:solidFill>
            <a:srgbClr val="0D1F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4754880" y="470916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</a:rPr>
              <a:t>MySQL 8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949440" y="4709160"/>
            <a:ext cx="1010412" cy="256032"/>
          </a:xfrm>
          <a:prstGeom prst="roundRect">
            <a:avLst>
              <a:gd name="adj" fmla="val 17857"/>
            </a:avLst>
          </a:prstGeom>
          <a:solidFill>
            <a:srgbClr val="0D1F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6949440" y="4709160"/>
            <a:ext cx="101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</a:rPr>
              <a:t>OCPP 1.6J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65760" y="470916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D1F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365760" y="4709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</a:rPr>
              <a:t>GCP Mumbai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560320" y="4709160"/>
            <a:ext cx="923544" cy="256032"/>
          </a:xfrm>
          <a:prstGeom prst="roundRect">
            <a:avLst>
              <a:gd name="adj" fmla="val 17857"/>
            </a:avLst>
          </a:prstGeom>
          <a:solidFill>
            <a:srgbClr val="0D1F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2560320" y="470916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</a:rPr>
              <a:t>Razorpay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754880" y="4709160"/>
            <a:ext cx="1010412" cy="256032"/>
          </a:xfrm>
          <a:prstGeom prst="roundRect">
            <a:avLst>
              <a:gd name="adj" fmla="val 17857"/>
            </a:avLst>
          </a:prstGeom>
          <a:solidFill>
            <a:srgbClr val="0D1F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4754880" y="4709160"/>
            <a:ext cx="101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</a:rPr>
              <a:t>Claude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DRIVER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a Driver Needs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One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297680" cy="731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420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Charger Map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87552" y="1847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 availability, filter by power, connector type, price, distance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846320" y="1508760"/>
            <a:ext cx="4297680" cy="731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642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68112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One-Tap Charging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68112" y="1847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Start &amp; stop sessions via app or RFID card — no juggling apps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2350008"/>
            <a:ext cx="4297680" cy="731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0545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552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Cost Tracking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87552" y="2688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See cost and energy updating every 5 seconds during charging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846320" y="2350008"/>
            <a:ext cx="4297680" cy="731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5054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68112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Prepaid Wallet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68112" y="2688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Razorpay top-up — session auto-stops if balance runs low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65760" y="3191256"/>
            <a:ext cx="4297680" cy="731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346704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7552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Vehicle Profiles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87552" y="3529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Store EV details, set target SOC — auto-stop at your desired charge %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846320" y="3191256"/>
            <a:ext cx="4297680" cy="731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346704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68112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 History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68112" y="3529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Full charging history with cost, energy, duration, pricing breakdown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365760" y="4032504"/>
            <a:ext cx="4297680" cy="731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4187952"/>
            <a:ext cx="384048" cy="38404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87552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RFID Cards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987552" y="4370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Register physical RFID card — tap-to-charge without opening app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846320" y="4032504"/>
            <a:ext cx="4297680" cy="7315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4187952"/>
            <a:ext cx="384048" cy="3840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68112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Fleet Management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5468112" y="4370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Fleet admin controls, billing mode, monthly limits per driver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54864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</a:rPr>
              <a:t>AI-POWERED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Built Into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Charging Interaction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3200400"/>
          </a:xfrm>
          <a:prstGeom prst="rect">
            <a:avLst/>
          </a:prstGeom>
          <a:solidFill>
            <a:srgbClr val="0D1526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7830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Volt AI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Powered by Anthropic Claude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49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Ask Volt anything about your charging session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4553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1181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Get AI-generated monthly charging reports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3538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Personalized cost optimization tips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8678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959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Fleet usage insights and anomaly alerts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07408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4379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Natural language charger search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4754880" y="1600200"/>
            <a:ext cx="411480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847088"/>
            <a:ext cx="411480" cy="4114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9496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Voice Wake-Up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7406640" y="1691640"/>
            <a:ext cx="1184148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4"/>
          <p:cNvSpPr/>
          <p:nvPr/>
        </p:nvSpPr>
        <p:spPr>
          <a:xfrm>
            <a:off x="7406640" y="169164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</a:rPr>
              <a:t>COMING SOON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5394960" y="2039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Next Release — 'Hey Volt, start charging my car' — hands-free session control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4754880" y="2697480"/>
            <a:ext cx="411480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44368"/>
            <a:ext cx="411480" cy="4114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Auto-Stop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7406640" y="278892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19"/>
          <p:cNvSpPr/>
          <p:nvPr/>
        </p:nvSpPr>
        <p:spPr>
          <a:xfrm>
            <a:off x="740664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 APP NOW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5394960" y="31363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AI predicts optimal charge endpoint based on vehicle, trip schedule, and price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4754880" y="3794760"/>
            <a:ext cx="411480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4041648"/>
            <a:ext cx="411480" cy="4114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3949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Predictive Pricing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7406640" y="3886200"/>
            <a:ext cx="836676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4"/>
          <p:cNvSpPr/>
          <p:nvPr/>
        </p:nvSpPr>
        <p:spPr>
          <a:xfrm>
            <a:off x="7406640" y="388620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5394960" y="42336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AI recommends best time to charge based on live ToU rates and your usage patterns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FULLY CUSTOMISABLE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Brand. Your Rules.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Charging Network.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2834640" cy="342900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83464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12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Builders &amp; Societies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633472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Your building logo on the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Resident-only access (private chargers)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Branded charging screen &amp; receipts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Flat monthly resident pricing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Usage reports per unit/flat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Admin dashboard for facility manager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554480"/>
            <a:ext cx="2834640" cy="342900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46120" y="1554480"/>
            <a:ext cx="28346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91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212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Corporate Campuses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2633472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Employee RFID card integration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Cost centre billing per department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Fleet vehicle management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Peak/off-peak pricing by shift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GST-compliant monthly invoices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EV policy compliance reporting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834640" cy="342900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217920" y="1554480"/>
            <a:ext cx="283464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6916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212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Charging Operators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2633472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Multi-site network management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Dynamic pricing per charger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Public + private charger mix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Revenue sharing configuration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White-label app option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API access for third-party integration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0D1526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</a:rPr>
              <a:t>⚡  Builder &amp; society logos embedded in app  ·  Custom branding on receipts, notifications, and login screen  ·  Configurable per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</a:rPr>
              <a:t>REVENUE MODELS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Monetisation for Every Agreement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88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4632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 Unit (kWh)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Charge exactly for energy delivered. Standard for most public chargers.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₹9 / kWh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88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10712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 Transaction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0712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Fixed fee per charging session regardless of energy or time.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10712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₹50 /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2788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36792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 Minute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Time-based billing. Best for destination chargers &amp; parking.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36792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₹2 / minute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788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54864" cy="12801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Tiered Power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3172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Rate changes with charging speed. HPC gets premium rate.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₹16–₹28 / kWh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788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46120" y="274320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10712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of Use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3172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Peak/off-peak/shoulder rates by hour. Shifts load to cheap periods.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10712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₹6–₹14 / kWh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788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72200" y="2743200"/>
            <a:ext cx="54864" cy="12801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 / Complimentary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6792" y="3172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 charge to user. For hotels, offices, incentive programmes.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36792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₹0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9680" y="1325880"/>
            <a:ext cx="9144" cy="2743200"/>
          </a:xfrm>
          <a:prstGeom prst="rect">
            <a:avLst/>
          </a:prstGeom>
          <a:solidFill>
            <a:srgbClr val="0D1F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0040" y="4160520"/>
            <a:ext cx="8549640" cy="822960"/>
          </a:xfrm>
          <a:prstGeom prst="rect">
            <a:avLst/>
          </a:prstGeom>
          <a:solidFill>
            <a:srgbClr val="0D1526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VoltStartEV Revenue Share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Platform fee: 5–10% of transaction value  ·  SaaS subscription for operators  ·  Custom integration fee for white-label deployments  ·  Revenue sharing negotiated per agreement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Architecture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Scale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8412480" cy="338328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737360" cy="822960"/>
          </a:xfrm>
          <a:prstGeom prst="rect">
            <a:avLst/>
          </a:prstGeom>
          <a:solidFill>
            <a:srgbClr val="0A1628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React Native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737360"/>
            <a:ext cx="1737360" cy="822960"/>
          </a:xfrm>
          <a:prstGeom prst="rect">
            <a:avLst/>
          </a:prstGeom>
          <a:solidFill>
            <a:srgbClr val="0A1628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0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Node.js + 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737360"/>
            <a:ext cx="1737360" cy="822960"/>
          </a:xfrm>
          <a:prstGeom prst="rect">
            <a:avLst/>
          </a:prstGeom>
          <a:solidFill>
            <a:srgbClr val="0A1628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SteVe OCPP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Java / MySQL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1737360"/>
            <a:ext cx="1737360" cy="822960"/>
          </a:xfrm>
          <a:prstGeom prst="rect">
            <a:avLst/>
          </a:prstGeom>
          <a:solidFill>
            <a:srgbClr val="0A1628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0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 Charger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OCPP 1.6J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2148840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86000" y="2057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2359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REST API  +  WebSocket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0" y="2148840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0" y="2057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0" y="2359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OCPP Webhooks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58000" y="2148840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0" y="2057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2359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OCPP 1.6J WS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2920" y="2788920"/>
            <a:ext cx="1965960" cy="187452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92608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02920" y="3456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WebSocket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4360" y="37947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Real-time telemetry every 5 seconds — no polling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606040" y="2788920"/>
            <a:ext cx="1965960" cy="187452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926080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2606040" y="3456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&lt; 200ms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697480" y="37947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API response time with in-memory cache layer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709160" y="2788920"/>
            <a:ext cx="1965960" cy="187452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926080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709160" y="3456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Atomic Ops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4800600" y="37947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Race-condition-safe billing and auto-stop logic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6812280" y="2788920"/>
            <a:ext cx="1965960" cy="187452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926080"/>
            <a:ext cx="457200" cy="4572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12280" y="3456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Live Cost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6903720" y="37947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Cost updates every meter value during session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914400"/>
            <a:ext cx="6400800" cy="5486400"/>
          </a:xfrm>
          <a:prstGeom prst="ellipse">
            <a:avLst/>
          </a:prstGeom>
          <a:solidFill>
            <a:srgbClr val="0D9488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Coming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37033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8346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834640" cy="4572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Now — Live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OCPP 1.6J compliant charging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5 pricing models (per kWh, tiered, ToU, per-min, free)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Real-time WebSocket telemetry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Wallet + Razorpay payment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RFID card management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Fleet management + multi-vehicle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Volt AI assistant (Claude)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Push notifications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SOC auto-stop + low-balance auto-stop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834640" cy="37033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83464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46120" y="12618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 — 3 Months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755648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Voice wake-up: 'Hey Volt, start charging'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Builder / society logo branding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OTP-based authentication (production)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HTTPS / SSL security hardening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Smart charging load balancing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SendLocalList (offline RFID auth)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Admin web dashboard (operators)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2834640" cy="370332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8346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283464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0" y="12618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— 6–12 Months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755648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OCPP 2.0.1 migration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V2G (Vehicle-to-Grid) support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Dynamic grid-aware pricing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Multi-tenant white-label platform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Real-time load balancing 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Integration with energy providers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Predictive AI charging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914400"/>
            <a:ext cx="6400800" cy="54864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</a:rPr>
              <a:t>SUSTAINABILITY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Charge. Every kWh.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 and Reported.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420624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Carbon Tracking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057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Every session records kWh and estimated CO₂ offset vs petrol. Show your ESG impact in real numbers.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420624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1031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Energy Reports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40680" y="2057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Monthly PDF reports — total energy delivered, peak demand, cost savings vs fossil fuel per user.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3246120"/>
            <a:ext cx="420624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20040" y="324612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794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Grid-Aware Charging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3749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Time-of-use pricing incentivises off-peak charging — reduces grid load during peak demand hours.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246120"/>
            <a:ext cx="420624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754880" y="324612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7947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Fleet ESG Dashboard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40680" y="3749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Corporate ESG reporting — fleet electrification progress, avoided emissions, renewable energy 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WHY VOLTSTART EV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Different.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Fast.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278892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7889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645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Production-Ready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Not a prototype. Running live sessions across multiple charger types with real billing and real users.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508760"/>
            <a:ext cx="278892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46120" y="150876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916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645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OCPP 1.6J Compliant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21488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Standard protocol means compatibility with any OCPP-certified charger hardware from any vendor.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72200" y="1508760"/>
            <a:ext cx="278892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172200" y="1508760"/>
            <a:ext cx="2788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1645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Multi-Tenant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9360" y="21488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One platform, unlimited deployments. Each client gets isolated data, branding, and pricing.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20040" y="3200400"/>
            <a:ext cx="278892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8328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Flexible Revenue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38404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Six charging pricing models. Revenue sharing, SaaS, white-label — any agreement structure.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46120" y="3200400"/>
            <a:ext cx="278892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246120" y="320040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38328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Native Mobile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83280" y="38404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React Native app — single codebase for iOS and Android. OTA updates without app store approval.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72200" y="3200400"/>
            <a:ext cx="2788920" cy="150876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172200" y="3200400"/>
            <a:ext cx="27889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38328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93992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AI-First Design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9360" y="38404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Claude AI assistant baked into the app from day one — not bolted on later.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D9488">
              <a:alpha val="9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7C3AED">
              <a:alpha val="9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57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34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India's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Smartest Charging Network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4A3B8"/>
                </a:solidFill>
              </a:rPr>
              <a:t>Together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3017520"/>
            <a:ext cx="2423160" cy="1463040"/>
          </a:xfrm>
          <a:prstGeom prst="rect">
            <a:avLst/>
          </a:prstGeom>
          <a:solidFill>
            <a:srgbClr val="0D1F35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12724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611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Schedule a Demo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See a live charging session from the app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29000" y="3017520"/>
            <a:ext cx="2423160" cy="1463040"/>
          </a:xfrm>
          <a:prstGeom prst="rect">
            <a:avLst/>
          </a:prstGeom>
          <a:solidFill>
            <a:srgbClr val="0D1F35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12724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3611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 Proposal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2044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Tailored pricing &amp; branding for your site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80760" y="3017520"/>
            <a:ext cx="2423160" cy="1463040"/>
          </a:xfrm>
          <a:prstGeom prst="rect">
            <a:avLst/>
          </a:prstGeom>
          <a:solidFill>
            <a:srgbClr val="0D1F35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12724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3611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 Programme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17220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Deploy 2–3 chargers with full platform access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VoltStartEV  ·  pardeep.attri327@gmail.com  ·  github.com/AttriPardeep/VoltStartEV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Microsoft Office PowerPoint</Application>
  <PresentationFormat>On-screen Show (16:9)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VoltStartEV — Investor &amp; Client Pitch</dc:title>
  <dc:subject>PptxGenJS Presentation</dc:subject>
  <dc:creator>VoltStartEV</dc:creator>
  <cp:lastModifiedBy>Pardeep Attri -X (pattri - CAPGEMINI AMERICA INC at Cisco)</cp:lastModifiedBy>
  <cp:revision>2</cp:revision>
  <dcterms:created xsi:type="dcterms:W3CDTF">2026-06-06T07:21:52Z</dcterms:created>
  <dcterms:modified xsi:type="dcterms:W3CDTF">2026-06-06T07:26:11Z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Cisco Confidential</vt:lpwstr>
  </property>
</Properties>
</file>